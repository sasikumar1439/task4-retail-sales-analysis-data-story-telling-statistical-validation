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($)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185000</c:v>
                </c:pt>
                <c:pt idx="1">
                  <c:v>210000</c:v>
                </c:pt>
                <c:pt idx="2">
                  <c:v>198000</c:v>
                </c:pt>
                <c:pt idx="3">
                  <c:v>225000</c:v>
                </c:pt>
                <c:pt idx="4">
                  <c:v>240000</c:v>
                </c:pt>
                <c:pt idx="5">
                  <c:v>218000</c:v>
                </c:pt>
                <c:pt idx="6">
                  <c:v>260000</c:v>
                </c:pt>
                <c:pt idx="7">
                  <c:v>245000</c:v>
                </c:pt>
                <c:pt idx="8">
                  <c:v>278000</c:v>
                </c:pt>
                <c:pt idx="9">
                  <c:v>252000</c:v>
                </c:pt>
                <c:pt idx="10">
                  <c:v>290000</c:v>
                </c:pt>
                <c:pt idx="11">
                  <c:v>310000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High Value
(&gt;$5,000)</c:v>
                  </c:pt>
                  <c:pt idx="1">
                    <c:v>Medium Value
($2K-$5K)</c:v>
                  </c:pt>
                  <c:pt idx="2">
                    <c:v>Low Value
(&lt;$2,000)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1200000</c:v>
                </c:pt>
                <c:pt idx="1">
                  <c:v>780000</c:v>
                </c:pt>
                <c:pt idx="2">
                  <c:v>420000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Payment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6366F1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EC4899"/>
              </a:solidFill>
              <a:effectLst/>
            </c:spPr>
          </c:dPt>
          <c:dPt>
            <c:idx val="4"/>
            <c:bubble3D val="0"/>
            <c:spPr>
              <a:solidFill>
                <a:srgbClr val="10B98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Credit Card</c:v>
                </c:pt>
                <c:pt idx="1">
                  <c:v>Debit Card</c:v>
                </c:pt>
                <c:pt idx="2">
                  <c:v>Cash</c:v>
                </c:pt>
                <c:pt idx="3">
                  <c:v>Digital Wallet</c:v>
                </c:pt>
                <c:pt idx="4">
                  <c:v>Net Banking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38</c:v>
                </c:pt>
                <c:pt idx="1">
                  <c:v>27</c:v>
                </c:pt>
                <c:pt idx="2">
                  <c:v>15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1A2E5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663440"/>
            <a:ext cx="2743200" cy="4800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Data Analysis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Business Insights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5029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Analysis &amp; Statistical Validation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Ksasi Kumar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| Retail Analytics Division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7315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7043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00584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retail transaction data to uncover patterns and trends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96596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3055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196596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revenue drivers and high-impact business factors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2926080"/>
            <a:ext cx="73152" cy="7772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9067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292608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customer behavior and segmentation insights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57200" y="3886200"/>
            <a:ext cx="73152" cy="7772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050792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388620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data-driven business recommendations for growth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3931920" cy="379476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51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347472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002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Transaction-level retail dataset capturing customer purchases across multiple categories and payment methods.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transactions across customers, enabling cross-sectional and temporal analysis.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9601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0" y="1463040"/>
            <a:ext cx="4297680" cy="56692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463040"/>
            <a:ext cx="7315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4630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14630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 identifier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121408"/>
            <a:ext cx="4297680" cy="56692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121408"/>
            <a:ext cx="73152" cy="5669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12140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212140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of purchase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2779776"/>
            <a:ext cx="4297680" cy="56692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2779776"/>
            <a:ext cx="73152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77977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total_spent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277977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per transaction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3438144"/>
            <a:ext cx="4297680" cy="56692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438144"/>
            <a:ext cx="73152" cy="56692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43814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payment_method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343814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of payment used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4096512"/>
            <a:ext cx="4297680" cy="56692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4096512"/>
            <a:ext cx="73152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40965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75120" y="409651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items purchased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1920240" cy="2286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1430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828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$2.4M+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65760" y="2514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14600" y="1005840"/>
            <a:ext cx="1920240" cy="2286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114300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14600" y="1828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$185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2514600" y="2514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63440" y="1005840"/>
            <a:ext cx="1920240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114300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63440" y="1828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1,200+</a:t>
            </a:r>
            <a:endParaRPr lang="en-US" sz="2600" dirty="0"/>
          </a:p>
        </p:txBody>
      </p:sp>
      <p:sp>
        <p:nvSpPr>
          <p:cNvPr id="16" name="Text 11"/>
          <p:cNvSpPr/>
          <p:nvPr/>
        </p:nvSpPr>
        <p:spPr>
          <a:xfrm>
            <a:off x="4663440" y="2514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812280" y="1005840"/>
            <a:ext cx="1920240" cy="22860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2" y="114300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12280" y="1828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items</a:t>
            </a:r>
            <a:endParaRPr lang="en-US" sz="2600" dirty="0"/>
          </a:p>
        </p:txBody>
      </p:sp>
      <p:sp>
        <p:nvSpPr>
          <p:cNvPr id="20" name="Text 14"/>
          <p:cNvSpPr/>
          <p:nvPr/>
        </p:nvSpPr>
        <p:spPr>
          <a:xfrm>
            <a:off x="6812280" y="2514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Qty/Order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365760" y="356616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65760" y="3566160"/>
            <a:ext cx="73152" cy="1188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94360" y="3611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Power BI Dashboard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94360" y="3977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from Power BI dashboard capture live metrics from the retail transaction dataset, enabling real-time monitoring of business health and performance trends.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914400"/>
            <a:ext cx="2743200" cy="34747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63640" y="1005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1371600"/>
            <a:ext cx="24688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508760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2240" y="144475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varies over 12 months indicating possible seasonality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2167128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upward trend from Jan–Dec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2825496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76148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shows strongest performance (Oct–Dec)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63640" y="3483864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92240" y="341985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Mid-year dip in June suggests seasonal softness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914400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0" y="914400"/>
            <a:ext cx="7315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0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12648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$5,000  |  50% of revenue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26480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major revenue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2103120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0" y="2103120"/>
            <a:ext cx="73152" cy="1005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Value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12648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$2,000–$5,000  |  32% of revenue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2648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opportunity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0" y="3291840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943600" y="329184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26480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12648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$2,000  |  18% of revenue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customers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669280" y="960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Breakdown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669280" y="1463040"/>
            <a:ext cx="3108960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0" y="1463040"/>
            <a:ext cx="6400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52160" y="14630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0" y="146304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669280" y="2057400"/>
            <a:ext cx="3108960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0" y="2057400"/>
            <a:ext cx="64008" cy="47548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20574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Card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63840" y="205740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669280" y="2651760"/>
            <a:ext cx="3108960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0" y="2651760"/>
            <a:ext cx="64008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52160" y="26517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863840" y="265176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69280" y="3246120"/>
            <a:ext cx="3108960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69280" y="3246120"/>
            <a:ext cx="64008" cy="47548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0" y="32461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Wallet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863840" y="324612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669280" y="3840480"/>
            <a:ext cx="3108960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669280" y="3840480"/>
            <a:ext cx="64008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52160" y="38404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Banking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863840" y="384048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669280" y="4434840"/>
            <a:ext cx="3108960" cy="4572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60720" y="4434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Credit Card dominates at 38% of transactions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8046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73152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33856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960120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customers (&gt;$5,000) generate the majority of total revenue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8229600" cy="8046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965960"/>
            <a:ext cx="7315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39696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1965960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data was unavailable — further analysis required to assess promotional impact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2971800"/>
            <a:ext cx="8229600" cy="8046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7200" y="2971800"/>
            <a:ext cx="73152" cy="8046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45536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2971800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does NOT significantly affect average spending behavior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457200" y="3977640"/>
            <a:ext cx="8229600" cy="8046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57200" y="3977640"/>
            <a:ext cx="73152" cy="8046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51376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3977640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shows notable temporal variations suggesting seasonal demand patterns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3977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73152" cy="10972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— Null Hypothesis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does NOT affect customer spending behavior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3977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05840"/>
            <a:ext cx="73152" cy="10972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— Alternative Hypothesis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371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DOES affect customer spending behavior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2860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Test: Independent T-Test (Two-Sample)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2514600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0175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0.265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73552" y="2834640"/>
            <a:ext cx="2514600" cy="16459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73552" y="30175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273552" y="3840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98464" y="2834640"/>
            <a:ext cx="2514600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98464" y="30175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0.05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998464" y="3840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Level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960120"/>
            <a:ext cx="7315200" cy="201168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1887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0972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Null Hypothesis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920240" y="15544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(0.79) &gt; α (0.05)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97280" y="20116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does NOT significantly impact customer spending. The difference in average spending across payment methods is statistically insignificant.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3154680"/>
            <a:ext cx="8412480" cy="5029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3154680"/>
            <a:ext cx="7315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31546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statistically significant difference in spending between payment groups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" y="3749040"/>
            <a:ext cx="8412480" cy="5029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3749040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3749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should NOT tailor pricing strategies based on payment method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5760" y="4343400"/>
            <a:ext cx="73152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4343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resources on customer tier segmentation rather than payment channel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1148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005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High-Value Customers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premium loyalty programs and personalized services for customers spending &gt;$5,000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880360"/>
            <a:ext cx="4114800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26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Customer Retention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4290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targeted retention campaigns, re-engagement emails, and exclusive offers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9601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960120"/>
            <a:ext cx="41148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005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94960" y="1005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Category Performance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5087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top-performing categories and allocate inventory and marketing budgets accordingly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8803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880360"/>
            <a:ext cx="4114800" cy="4572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926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2926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Marketing Strategies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4290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customer segments to personalize campaigns and maximize ROI on marketing spend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27432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CONCLUSION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88720"/>
            <a:ext cx="685800" cy="685800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234440"/>
            <a:ext cx="457200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417320" y="1005840"/>
            <a:ext cx="7269480" cy="10058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17320" y="100584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00200" y="10058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provides actionable, measurable insights for strategic decision-making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02920" y="2331720"/>
            <a:ext cx="685800" cy="68580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377440"/>
            <a:ext cx="457200" cy="457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417320" y="2148840"/>
            <a:ext cx="7269480" cy="10058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417320" y="214884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600200" y="21488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is the #1 key lever for maximizing revenue growth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02920" y="3474720"/>
            <a:ext cx="685800" cy="685800"/>
          </a:xfrm>
          <a:prstGeom prst="ellipse">
            <a:avLst/>
          </a:prstGeom>
          <a:solidFill>
            <a:srgbClr val="6366F1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520440"/>
            <a:ext cx="457200" cy="4572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1417320" y="3291840"/>
            <a:ext cx="7269480" cy="10058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417320" y="3291840"/>
            <a:ext cx="64008" cy="1005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600200" y="32918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hypothesis testing improves decision reliability and reduces bias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3200400"/>
            <a:ext cx="2743200" cy="274320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4800600"/>
            <a:ext cx="27432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64008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457200" y="2468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200400" y="3154680"/>
            <a:ext cx="2743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Ksasi Kumar  |  Retail Sales Data Analysis &amp; Business Insights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Data Analysis &amp; Business Insights</dc:title>
  <dc:subject>PptxGenJS Presentation</dc:subject>
  <dc:creator>Ksasi Kumar</dc:creator>
  <cp:lastModifiedBy>Ksasi Kumar</cp:lastModifiedBy>
  <cp:revision>1</cp:revision>
  <dcterms:created xsi:type="dcterms:W3CDTF">2026-04-14T07:06:44Z</dcterms:created>
  <dcterms:modified xsi:type="dcterms:W3CDTF">2026-04-14T07:06:44Z</dcterms:modified>
</cp:coreProperties>
</file>